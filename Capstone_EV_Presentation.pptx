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F6114-EBBD-4A3F-AE7F-77614E37BAA0}" v="174" dt="2026-05-02T03:13:06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209" y="1013985"/>
            <a:ext cx="5785791" cy="3260635"/>
          </a:xfrm>
        </p:spPr>
        <p:txBody>
          <a:bodyPr anchor="b"/>
          <a:lstStyle>
            <a:lvl1pPr algn="l"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209" y="4848465"/>
            <a:ext cx="5785791" cy="1085849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143001" y="4571506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05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5446"/>
            <a:ext cx="6928826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174" y="2286000"/>
            <a:ext cx="6928826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2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309" y="1287554"/>
            <a:ext cx="6213722" cy="3113064"/>
          </a:xfrm>
        </p:spPr>
        <p:txBody>
          <a:bodyPr anchor="t"/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308" y="4619708"/>
            <a:ext cx="5791692" cy="1476293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4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13411"/>
            <a:ext cx="6928826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175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6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79150"/>
            <a:ext cx="6928826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6" y="2013217"/>
            <a:ext cx="337184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2175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13216"/>
            <a:ext cx="337185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4703046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878879" y="4592407"/>
            <a:ext cx="606197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143001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30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4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3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05" y="1558944"/>
            <a:ext cx="2459767" cy="1864196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1" y="762000"/>
            <a:ext cx="4000499" cy="5334000"/>
          </a:xfrm>
        </p:spPr>
        <p:txBody>
          <a:bodyPr anchor="ctr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tx1"/>
                </a:solidFill>
              </a:defRPr>
            </a:lvl2pPr>
            <a:lvl3pPr>
              <a:defRPr sz="2667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806" y="3649683"/>
            <a:ext cx="2424822" cy="1933605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4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157" y="1383126"/>
            <a:ext cx="2467415" cy="2045874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000501" y="762000"/>
            <a:ext cx="4000499" cy="5334000"/>
          </a:xfrm>
        </p:spPr>
        <p:txBody>
          <a:bodyPr anchor="t"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158" y="3649683"/>
            <a:ext cx="2432469" cy="1684317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9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2174" y="2229958"/>
            <a:ext cx="6928826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7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1467700"/>
            <a:ext cx="1318846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6735" y="1467700"/>
            <a:ext cx="5879534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3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1622"/>
            <a:ext cx="6928826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4" y="2286000"/>
            <a:ext cx="6928826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19154" y="4936959"/>
            <a:ext cx="26732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7521088" y="1655534"/>
            <a:ext cx="26694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9681" y="3219853"/>
            <a:ext cx="472240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22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400" userDrawn="1">
          <p15:clr>
            <a:srgbClr val="F26B43"/>
          </p15:clr>
        </p15:guide>
        <p15:guide id="4" pos="5040" userDrawn="1">
          <p15:clr>
            <a:srgbClr val="F26B43"/>
          </p15:clr>
        </p15:guide>
        <p15:guide id="16" pos="360" userDrawn="1">
          <p15:clr>
            <a:srgbClr val="F26B43"/>
          </p15:clr>
        </p15:guide>
        <p15:guide id="23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Predicting EV Infrastructure in Southern Ontario</a:t>
            </a:r>
          </a:p>
        </p:txBody>
      </p:sp>
      <p:pic>
        <p:nvPicPr>
          <p:cNvPr id="4" name="Content Placeholder 3" descr="A car charging at a charging station&#10;&#10;AI-generated content may be incorrect.">
            <a:extLst>
              <a:ext uri="{FF2B5EF4-FFF2-40B4-BE49-F238E27FC236}">
                <a16:creationId xmlns:a16="http://schemas.microsoft.com/office/drawing/2014/main" id="{C7C8780C-F572-6CA1-93EF-228BF22D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109" y="1905000"/>
            <a:ext cx="6769734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adoption is rapidly increasing.</a:t>
            </a:r>
          </a:p>
          <a:p>
            <a:r>
              <a:t>Infrastructure must scale accordingly.</a:t>
            </a:r>
          </a:p>
        </p:txBody>
      </p:sp>
      <p:pic>
        <p:nvPicPr>
          <p:cNvPr id="4" name="Picture 3" descr="A graph with a line and a blue dot&#10;&#10;AI-generated content may be incorrect.">
            <a:extLst>
              <a:ext uri="{FF2B5EF4-FFF2-40B4-BE49-F238E27FC236}">
                <a16:creationId xmlns:a16="http://schemas.microsoft.com/office/drawing/2014/main" id="{F2828035-B788-D6F8-9B5A-E1270851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89" y="3280833"/>
            <a:ext cx="4995334" cy="3330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Uneven charging distribution.</a:t>
            </a:r>
          </a:p>
          <a:p>
            <a:r>
              <a:t>Need predictive planning.</a:t>
            </a:r>
          </a:p>
          <a:p>
            <a:endParaRPr lang="en-GB"/>
          </a:p>
        </p:txBody>
      </p:sp>
      <p:pic>
        <p:nvPicPr>
          <p:cNvPr id="4" name="Picture 3" descr="A graph showing a line&#10;&#10;AI-generated content may be incorrect.">
            <a:extLst>
              <a:ext uri="{FF2B5EF4-FFF2-40B4-BE49-F238E27FC236}">
                <a16:creationId xmlns:a16="http://schemas.microsoft.com/office/drawing/2014/main" id="{F45C904C-530A-5ABD-1F37-B75F4014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33338"/>
            <a:ext cx="4416778" cy="2571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Predict demand</a:t>
            </a:r>
          </a:p>
          <a:p>
            <a:r>
              <a:t>Identify high-demand zones</a:t>
            </a:r>
          </a:p>
          <a:p>
            <a:r>
              <a:t>Support planning decisions</a:t>
            </a:r>
          </a:p>
          <a:p>
            <a:endParaRPr lang="en-GB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465F0160-C802-BEC4-35EF-29FDD1918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44" y="3721368"/>
            <a:ext cx="4310945" cy="2653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/>
              <a:t>IESO Hourly Demand -</a:t>
            </a:r>
            <a:r>
              <a:rPr lang="en-GB">
                <a:ea typeface="+mn-lt"/>
                <a:cs typeface="+mn-lt"/>
              </a:rPr>
              <a:t>  http://reports.ieso.ca/public/Demand/PUB_Demand_{year}.csv</a:t>
            </a:r>
            <a:endParaRPr lang="en-GB"/>
          </a:p>
          <a:p>
            <a:r>
              <a:rPr lang="en-GB"/>
              <a:t>Ontario EV Stations - </a:t>
            </a:r>
            <a:r>
              <a:rPr lang="en-GB">
                <a:ea typeface="+mn-lt"/>
                <a:cs typeface="+mn-lt"/>
              </a:rPr>
              <a:t>https://developer.nrel.gov/api/alt-fuel-stations/v1.json</a:t>
            </a:r>
            <a:endParaRPr/>
          </a:p>
          <a:p>
            <a:r>
              <a:rPr lang="en-GB" dirty="0"/>
              <a:t>Ontario EV Trends &amp; population - </a:t>
            </a:r>
            <a:r>
              <a:rPr lang="en-GB" dirty="0" err="1">
                <a:ea typeface="+mn-lt"/>
                <a:cs typeface="+mn-lt"/>
              </a:rPr>
              <a:t>NRCan</a:t>
            </a:r>
            <a:r>
              <a:rPr lang="en-GB" dirty="0">
                <a:ea typeface="+mn-lt"/>
                <a:cs typeface="+mn-lt"/>
              </a:rPr>
              <a:t> API for Alternative Fuel Stations</a:t>
            </a:r>
          </a:p>
          <a:p>
            <a:r>
              <a:rPr lang="en-GB" dirty="0"/>
              <a:t>Ontario Weather Data-</a:t>
            </a:r>
            <a:r>
              <a:rPr lang="en-GB" dirty="0">
                <a:ea typeface="+mn-lt"/>
                <a:cs typeface="+mn-lt"/>
              </a:rPr>
              <a:t>https://climate.weather.gc.ca/</a:t>
            </a:r>
            <a:r>
              <a:rPr lang="en-GB" dirty="0" err="1">
                <a:ea typeface="+mn-lt"/>
                <a:cs typeface="+mn-lt"/>
              </a:rPr>
              <a:t>climate_data</a:t>
            </a:r>
            <a:r>
              <a:rPr lang="en-GB" dirty="0">
                <a:ea typeface="+mn-lt"/>
                <a:cs typeface="+mn-lt"/>
              </a:rPr>
              <a:t>/</a:t>
            </a:r>
            <a:r>
              <a:rPr lang="en-GB" dirty="0" err="1">
                <a:ea typeface="+mn-lt"/>
                <a:cs typeface="+mn-lt"/>
              </a:rPr>
              <a:t>bulk_data_e.html?format</a:t>
            </a:r>
            <a:r>
              <a:rPr lang="en-GB" dirty="0">
                <a:ea typeface="+mn-lt"/>
                <a:cs typeface="+mn-lt"/>
              </a:rPr>
              <a:t>=</a:t>
            </a:r>
            <a:r>
              <a:rPr lang="en-GB" dirty="0" err="1">
                <a:ea typeface="+mn-lt"/>
                <a:cs typeface="+mn-lt"/>
              </a:rPr>
              <a:t>csv&amp;stationID</a:t>
            </a:r>
            <a:r>
              <a:rPr lang="en-GB" dirty="0">
                <a:ea typeface="+mn-lt"/>
                <a:cs typeface="+mn-lt"/>
              </a:rPr>
              <a:t>=4932&amp;Year=2026&amp;Month=4&amp;Day=1&amp;timeframe=1&amp;submit=</a:t>
            </a:r>
            <a:r>
              <a:rPr lang="en-GB" dirty="0" err="1">
                <a:ea typeface="+mn-lt"/>
                <a:cs typeface="+mn-lt"/>
              </a:rPr>
              <a:t>Download+Data</a:t>
            </a:r>
            <a:endParaRPr lang="en-GB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</a:t>
            </a:r>
          </a:p>
          <a:p>
            <a:r>
              <a:t>Feature selection</a:t>
            </a:r>
          </a:p>
          <a:p>
            <a:r>
              <a:t>Model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Decision Tree Regression</a:t>
            </a:r>
          </a:p>
          <a:p>
            <a:pPr marL="0" indent="0">
              <a:buNone/>
            </a:pPr>
            <a:r>
              <a:rPr lang="en-US" dirty="0"/>
              <a:t>Handles </a:t>
            </a:r>
            <a:r>
              <a:rPr lang="en-US" dirty="0" err="1"/>
              <a:t>Non Linearity</a:t>
            </a:r>
            <a:r>
              <a:rPr lang="en-US" dirty="0"/>
              <a:t> : </a:t>
            </a:r>
            <a:r>
              <a:rPr lang="en-US" sz="1400" dirty="0">
                <a:ea typeface="+mn-lt"/>
                <a:cs typeface="+mn-lt"/>
              </a:rPr>
              <a:t>Electricity demand doesn't move in a straight line; it has sharp spikes. Decision trees are excellent at capturing these complex, non-linear patterns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Predicts </a:t>
            </a:r>
            <a:r>
              <a:rPr lang="en-US" dirty="0" err="1"/>
              <a:t>Continous</a:t>
            </a:r>
            <a:r>
              <a:rPr lang="en-US" dirty="0"/>
              <a:t> values : </a:t>
            </a:r>
            <a:r>
              <a:rPr lang="en-US" sz="1400" dirty="0">
                <a:ea typeface="+mn-lt"/>
                <a:cs typeface="+mn-lt"/>
              </a:rPr>
              <a:t>Since I am forecasting Megawatts (a continuous number), a "Regressor" is the correct choice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by City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 Growth Projection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Population vs Demand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Urban areas show highest demand.</a:t>
            </a:r>
          </a:p>
          <a:p>
            <a:r>
              <a:t>Suburban areas growing rapidly.</a:t>
            </a:r>
          </a:p>
          <a:p>
            <a:endParaRPr lang="en-GB"/>
          </a:p>
        </p:txBody>
      </p:sp>
      <p:pic>
        <p:nvPicPr>
          <p:cNvPr id="4" name="Picture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3210388-2BF6-49A9-DAB6-CC465771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79" y="3321980"/>
            <a:ext cx="5033819" cy="2707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must expand strategically.</a:t>
            </a:r>
          </a:p>
          <a:p>
            <a:r>
              <a:t>Planning required for future growth.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real-time data</a:t>
            </a:r>
          </a:p>
          <a:p>
            <a:r>
              <a:t>Model assumptions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real-time data</a:t>
            </a:r>
          </a:p>
          <a:p>
            <a:r>
              <a:t>Improve model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helps predict EV infrastructure needs.</a:t>
            </a:r>
          </a:p>
          <a:p>
            <a:r>
              <a:t>Supports sustainable planning.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data</a:t>
            </a:r>
          </a:p>
          <a:p>
            <a:r>
              <a:t>Research papers</a:t>
            </a:r>
          </a:p>
          <a:p>
            <a:r>
              <a:t>Ontario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PortalVTI</vt:lpstr>
      <vt:lpstr>Predicting EV Infrastructure in Southern Ontario</vt:lpstr>
      <vt:lpstr>Introduction</vt:lpstr>
      <vt:lpstr>Problem Statement</vt:lpstr>
      <vt:lpstr>Objectives</vt:lpstr>
      <vt:lpstr>Data Sources</vt:lpstr>
      <vt:lpstr>Methodology</vt:lpstr>
      <vt:lpstr>Models Used</vt:lpstr>
      <vt:lpstr>Demand by City</vt:lpstr>
      <vt:lpstr>EV Growth Projection</vt:lpstr>
      <vt:lpstr>Population vs Demand</vt:lpstr>
      <vt:lpstr>Results</vt:lpstr>
      <vt:lpstr>Discussion</vt:lpstr>
      <vt:lpstr>Challenges</vt:lpstr>
      <vt:lpstr>Future Work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6</cp:revision>
  <dcterms:created xsi:type="dcterms:W3CDTF">2013-01-27T09:14:16Z</dcterms:created>
  <dcterms:modified xsi:type="dcterms:W3CDTF">2026-05-02T03:13:19Z</dcterms:modified>
  <cp:category/>
</cp:coreProperties>
</file>